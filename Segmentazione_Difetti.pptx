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0" r:id="rId20"/>
    <p:sldId id="261" r:id="rId7"/>
    <p:sldId id="271" r:id="rId21"/>
    <p:sldId id="262" r:id="rId8"/>
    <p:sldId id="267" r:id="rId9"/>
    <p:sldId id="263" r:id="rId10"/>
    <p:sldId id="264" r:id="rId11"/>
    <p:sldId id="268" r:id="rId12"/>
    <p:sldId id="269" r:id="rId13"/>
    <p:sldId id="265" r:id="rId14"/>
  </p:sldIdLst>
  <p:sldSz cx="12192000" cy="6858000"/>
  <p:notesSz cx="6858000" cy="9144000"/>
  <p:embeddedFontLst>
    <p:embeddedFont>
      <p:font typeface="Plus Jakarta Sans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font" Target="fonts/font1.fntdata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6.xml"/><Relationship Id="rId21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506217"/>
            <a:ext cx="6096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2313682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Plus Jakarta Sans"/>
              </a:rPr>
              <a:t>RELAZIONE DI PROGETTO · DATASET S2DS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637532"/>
            <a:ext cx="9101137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Plus Jakarta Sans"/>
              </a:rPr>
              <a:t>Segmentazione dei Difetti nel Calcestruzzo Armato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963292"/>
            <a:ext cx="83343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Plus Jakarta Sans"/>
              </a:rPr>
              <a:t>Corrosione e spalling con YOLOv8s-seg e architettura compatta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47987"/>
            <a:ext cx="5334000" cy="1647825"/>
          </a:xfrm>
          <a:prstGeom prst="roundRect">
            <a:avLst>
              <a:gd name="adj" fmla="val 92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838450"/>
            <a:ext cx="5334000" cy="18669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Contesto e Motivazione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3300412"/>
            <a:ext cx="607575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Plus Jakarta Sans"/>
              </a:rPr>
              <a:t>Sfida Infrastrutturale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690937"/>
            <a:ext cx="57864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Patrimonio invecchiato: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Ponti e viadotti oltre la vita utile.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4024312"/>
            <a:ext cx="57864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Ispezioni tradizionali: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Costose, lente e rischiose in quota.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190875"/>
            <a:ext cx="55911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Plus Jakarta Sans"/>
              </a:rPr>
              <a:t>Soluzione Automatica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581400"/>
            <a:ext cx="55911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Visione artificiale: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Immagini da droni e sensori mobili.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914775"/>
            <a:ext cx="47244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Apprendimento profondo: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Analisi oggettiva e riproducibile.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90862"/>
            <a:ext cx="3505200" cy="1285875"/>
          </a:xfrm>
          <a:prstGeom prst="roundRect">
            <a:avLst>
              <a:gd name="adj" fmla="val 118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90862"/>
            <a:ext cx="3505200" cy="1285875"/>
          </a:xfrm>
          <a:prstGeom prst="roundRect">
            <a:avLst>
              <a:gd name="adj" fmla="val 118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90862"/>
            <a:ext cx="3505200" cy="1285875"/>
          </a:xfrm>
          <a:prstGeom prst="roundRect">
            <a:avLst>
              <a:gd name="adj" fmla="val 118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Il Problema: Corrosione e Spalling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367087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Corrosione dell'Armatura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662362"/>
            <a:ext cx="3048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Macchie di ruggine superficiali da cloruri e carbonatazione.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9625" y="3367087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Distacco Copriferro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662362"/>
            <a:ext cx="3048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Pressioni interne da ossidazione causano fessure e spalling.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53425" y="3367087"/>
            <a:ext cx="38385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Complessità Visiva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662362"/>
            <a:ext cx="3048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Illuminazione disomogenea, ombre, umidità e texture irregolari.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81325"/>
            <a:ext cx="3505200" cy="1504950"/>
          </a:xfrm>
          <a:prstGeom prst="roundRect">
            <a:avLst>
              <a:gd name="adj" fmla="val 101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81325"/>
            <a:ext cx="3505200" cy="1504950"/>
          </a:xfrm>
          <a:prstGeom prst="roundRect">
            <a:avLst>
              <a:gd name="adj" fmla="val 101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81325"/>
            <a:ext cx="3505200" cy="1504950"/>
          </a:xfrm>
          <a:prstGeom prst="roundRect">
            <a:avLst>
              <a:gd name="adj" fmla="val 101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Dataset S2DS e Preelaborazione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257550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Struttura S2DS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52825"/>
            <a:ext cx="304800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743 immagini originali da 1024×1024 pixel divise in training, validation e test.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9625" y="3257550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Tessere 256×256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552825"/>
            <a:ext cx="304800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Griglia 4×4 con fusione delle classi corrosione e spalling in un'unica categoria.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53425" y="3257550"/>
            <a:ext cx="38385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Tessere Senza Difetto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552825"/>
            <a:ext cx="304800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Aggiunte per misurare rigorosamente i falsi positivi su superfici integre.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71762"/>
            <a:ext cx="5334000" cy="2124075"/>
          </a:xfrm>
          <a:prstGeom prst="roundRect">
            <a:avLst>
              <a:gd name="adj" fmla="val 71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928937"/>
            <a:ext cx="5334000" cy="1609725"/>
          </a:xfrm>
          <a:prstGeom prst="roundRect">
            <a:avLst>
              <a:gd name="adj" fmla="val 94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Modello Standard: YOLOv8s-seg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925" y="2986087"/>
            <a:ext cx="61757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Caratteristiche Chiave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376612"/>
            <a:ext cx="58816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Architettura anchor-free: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11,8 milioni di parametri totali.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709987"/>
            <a:ext cx="58816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Backbone C2f &amp; SPPF: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Estrazione efficiente delle feature.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043362"/>
            <a:ext cx="48006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Testa di segmentazione: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Prototipi e coefficienti di maschera.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4927" y="3243262"/>
            <a:ext cx="2971800" cy="6126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400" b="1">
                <a:solidFill>
                  <a:srgbClr val="0284C7"/>
                </a:solidFill>
                <a:latin typeface="Plus Jakarta Sans"/>
              </a:rPr>
              <a:t>93,83%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3931920"/>
            <a:ext cx="482803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0" b="0">
                <a:solidFill>
                  <a:srgbClr val="64748B"/>
                </a:solidFill>
                <a:latin typeface="Plus Jakarta Sans"/>
              </a:rPr>
              <a:t>Pixel Accuracy micro sui 187 tile positivi del test. Soglia fissa 0,25 e un solo seed; i tile puliti sono esclusi, quindi questa valutazione non misura i falsi positivi.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28016"/>
            <a:ext cx="11667744" cy="36576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7365D"/>
                </a:solidFill>
                <a:latin typeface="Aptos"/>
              </a:rPr>
              <a:t>YOLOv8-Seg standard — architettura di riferimento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84632"/>
            <a:ext cx="11612880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40" b="0" i="0">
                <a:solidFill>
                  <a:srgbClr val="5D6D80"/>
                </a:solidFill>
                <a:latin typeface="Aptos"/>
              </a:rPr>
              <a:t>Segmentazione di istanza: la rete combina rilevamento degli oggetti e ricostruzione delle maschere.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2185416"/>
            <a:ext cx="2862072" cy="15179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579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2276856"/>
            <a:ext cx="2624328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793D4"/>
                </a:solidFill>
                <a:latin typeface="Aptos"/>
              </a:rPr>
              <a:t>1 · Backbone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2578608"/>
            <a:ext cx="2624328" cy="104241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10" b="0" i="0">
                <a:solidFill>
                  <a:srgbClr val="23364D"/>
                </a:solidFill>
                <a:latin typeface="Aptos"/>
              </a:rPr>
              <a:t>Le convoluzioni, i blocchi C2f e SPPF estraggono le caratteristiche dall’immagine. Le feature P3, P4 e P5 descrivono dettagli a scale diverse.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2185416"/>
            <a:ext cx="2862072" cy="1517904"/>
          </a:xfrm>
          <a:prstGeom prst="roundRect">
            <a:avLst/>
          </a:prstGeom>
          <a:solidFill>
            <a:srgbClr val="E4F5EC"/>
          </a:solidFill>
          <a:ln w="12700">
            <a:solidFill>
              <a:srgbClr val="46A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2276856"/>
            <a:ext cx="2624328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46A77A"/>
                </a:solidFill>
                <a:latin typeface="Aptos"/>
              </a:rPr>
              <a:t>2 · Neck PAN-FPN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578608"/>
            <a:ext cx="2624328" cy="104241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10" b="0" i="0">
                <a:solidFill>
                  <a:srgbClr val="23364D"/>
                </a:solidFill>
                <a:latin typeface="Aptos"/>
              </a:rPr>
              <a:t>Upsampling, downsampling, Concat e C2f combinano le feature multi-scala: i livelli profondi aggiungono contesto, quelli più fini conservano i dettagli.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2185416"/>
            <a:ext cx="2862072" cy="1517904"/>
          </a:xfrm>
          <a:prstGeom prst="roundRect">
            <a:avLst/>
          </a:prstGeom>
          <a:solidFill>
            <a:srgbClr val="F0EAFE"/>
          </a:solidFill>
          <a:ln w="12700">
            <a:solidFill>
              <a:srgbClr val="967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76856"/>
            <a:ext cx="2624328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67AE2"/>
                </a:solidFill>
                <a:latin typeface="Aptos"/>
              </a:rPr>
              <a:t>3 · Detection + mask 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578608"/>
            <a:ext cx="2624328" cy="104241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10" b="0" i="0">
                <a:solidFill>
                  <a:srgbClr val="23364D"/>
                </a:solidFill>
                <a:latin typeface="Aptos"/>
              </a:rPr>
              <a:t>Le teste predicono classe e bounding box, oltre ai coefficienti della maschera. Il modulo Proto genera le mappe prototipo usate per ricostruire le maschere.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98864" y="2185416"/>
            <a:ext cx="2862072" cy="1517904"/>
          </a:xfrm>
          <a:prstGeom prst="roundRect">
            <a:avLst/>
          </a:prstGeom>
          <a:solidFill>
            <a:srgbClr val="FFF1DA"/>
          </a:solidFill>
          <a:ln w="12700"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17736" y="2276856"/>
            <a:ext cx="2624328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99A2B"/>
                </a:solidFill>
                <a:latin typeface="Aptos"/>
              </a:rPr>
              <a:t>4 · Maschera per istanza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17736" y="2578608"/>
            <a:ext cx="2624328" cy="104241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10" b="0" i="0">
                <a:solidFill>
                  <a:srgbClr val="23364D"/>
                </a:solidFill>
                <a:latin typeface="Aptos"/>
              </a:rPr>
              <a:t>Ogni istanza rilevata ha una propria maschera. La testa standard non produce direttamente un’unica maschera semantica binaria.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886200"/>
            <a:ext cx="5742432" cy="2258568"/>
          </a:xfrm>
          <a:prstGeom prst="roundRect">
            <a:avLst/>
          </a:prstGeom>
          <a:solidFill>
            <a:srgbClr val="F1F6FD"/>
          </a:solidFill>
          <a:ln w="12700">
            <a:solidFill>
              <a:srgbClr val="A9C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3977639"/>
            <a:ext cx="5504688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20" b="1" i="0">
                <a:solidFill>
                  <a:srgbClr val="5793D4"/>
                </a:solidFill>
                <a:latin typeface="Aptos"/>
              </a:rPr>
              <a:t>Lettura dell’output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4279392"/>
            <a:ext cx="5504688" cy="17830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10" b="0" i="0">
                <a:solidFill>
                  <a:srgbClr val="23364D"/>
                </a:solidFill>
                <a:latin typeface="Aptos"/>
              </a:rPr>
              <a:t>• La Detection Head stima le classi e le bounding box.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10" b="0" i="0">
                <a:solidFill>
                  <a:srgbClr val="23364D"/>
                </a:solidFill>
                <a:latin typeface="Aptos"/>
              </a:rPr>
              <a:t>• La Segmentation Head produce i coefficienti delle maschere, combinati con Proto.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10" b="0" i="0">
                <a:solidFill>
                  <a:srgbClr val="23364D"/>
                </a:solidFill>
                <a:latin typeface="Aptos"/>
              </a:rPr>
              <a:t>• La maschera finale è quindi associata a una singola istanza rilevata.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3886200"/>
            <a:ext cx="5815584" cy="2258568"/>
          </a:xfrm>
          <a:prstGeom prst="roundRect">
            <a:avLst/>
          </a:prstGeom>
          <a:solidFill>
            <a:srgbClr val="F7F4FF"/>
          </a:solidFill>
          <a:ln w="12700">
            <a:solidFill>
              <a:srgbClr val="C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977639"/>
            <a:ext cx="5577840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220" b="1" i="0">
                <a:solidFill>
                  <a:srgbClr val="967AE2"/>
                </a:solidFill>
                <a:latin typeface="Aptos"/>
              </a:rPr>
              <a:t>Adattamento al progetto S2DS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279392"/>
            <a:ext cx="5577840" cy="17830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10" b="0" i="0">
                <a:solidFill>
                  <a:srgbClr val="23364D"/>
                </a:solidFill>
                <a:latin typeface="Aptos"/>
              </a:rPr>
              <a:t>Nel confronto con il modello semantico, le maschere delle istanze vengono aggregate in una sola maschera binaria: corrosione + spalling. La figura mostra la struttura di riferimento standard; negli esperimenti S2DS l’input usato è 256 × 256 pixel.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8416" y="896112"/>
            <a:ext cx="1353312" cy="1024128"/>
          </a:xfrm>
          <a:prstGeom prst="roundRect">
            <a:avLst/>
          </a:prstGeom>
          <a:solidFill>
            <a:srgbClr val="E8F1FF"/>
          </a:solidFill>
          <a:ln w="17145">
            <a:solidFill>
              <a:srgbClr val="579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 tIns="5029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5793D4"/>
                </a:solidFill>
                <a:latin typeface="Aptos"/>
              </a:rPr>
              <a:t>INPUT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23364D"/>
                </a:solidFill>
                <a:latin typeface="Aptos"/>
              </a:rPr>
              <a:t>RGB</a:t>
            </a:r>
            <a:br/>
            <a:r>
              <a:rPr sz="1050">
                <a:solidFill>
                  <a:srgbClr val="23364D"/>
                </a:solidFill>
                <a:latin typeface="Aptos"/>
              </a:rPr>
              <a:t>256 × 256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834880" y="1280160"/>
            <a:ext cx="256032" cy="256032"/>
          </a:xfrm>
          <a:prstGeom prst="rightArrow">
            <a:avLst/>
          </a:prstGeom>
          <a:solidFill>
            <a:srgbClr val="667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164064" y="896112"/>
            <a:ext cx="1828800" cy="1024128"/>
          </a:xfrm>
          <a:prstGeom prst="roundRect">
            <a:avLst/>
          </a:prstGeom>
          <a:solidFill>
            <a:srgbClr val="E8F1FF"/>
          </a:solidFill>
          <a:ln w="17145">
            <a:solidFill>
              <a:srgbClr val="579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 tIns="5029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>
                <a:solidFill>
                  <a:srgbClr val="5793D4"/>
                </a:solidFill>
                <a:latin typeface="Aptos"/>
              </a:rPr>
              <a:t>BACKBONE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>
                <a:solidFill>
                  <a:srgbClr val="23364D"/>
                </a:solidFill>
                <a:latin typeface="Aptos"/>
              </a:rPr>
              <a:t>Conv · C2f · SPPF</a:t>
            </a:r>
            <a:br/>
            <a:r>
              <a:rPr sz="1010">
                <a:solidFill>
                  <a:srgbClr val="23364D"/>
                </a:solidFill>
                <a:latin typeface="Aptos"/>
              </a:rPr>
              <a:t>Feature P3 / P4 / P5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066016" y="1280160"/>
            <a:ext cx="256032" cy="256032"/>
          </a:xfrm>
          <a:prstGeom prst="rightArrow">
            <a:avLst/>
          </a:prstGeom>
          <a:solidFill>
            <a:srgbClr val="667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95200" y="896112"/>
            <a:ext cx="1874519" cy="1024128"/>
          </a:xfrm>
          <a:prstGeom prst="roundRect">
            <a:avLst/>
          </a:prstGeom>
          <a:solidFill>
            <a:srgbClr val="E4F5EC"/>
          </a:solidFill>
          <a:ln w="17145">
            <a:solidFill>
              <a:srgbClr val="46A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 tIns="5029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>
                <a:solidFill>
                  <a:srgbClr val="46A77A"/>
                </a:solidFill>
                <a:latin typeface="Aptos"/>
              </a:rPr>
              <a:t>NECK PAN-FPN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>
                <a:solidFill>
                  <a:srgbClr val="23364D"/>
                </a:solidFill>
                <a:latin typeface="Aptos"/>
              </a:rPr>
              <a:t>Upsample + Concat + C2f</a:t>
            </a:r>
            <a:br/>
            <a:r>
              <a:rPr sz="1010">
                <a:solidFill>
                  <a:srgbClr val="23364D"/>
                </a:solidFill>
                <a:latin typeface="Aptos"/>
              </a:rPr>
              <a:t>Fusione multi-scala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342872" y="1280160"/>
            <a:ext cx="256032" cy="256032"/>
          </a:xfrm>
          <a:prstGeom prst="rightArrow">
            <a:avLst/>
          </a:prstGeom>
          <a:solidFill>
            <a:srgbClr val="667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72056" y="896112"/>
            <a:ext cx="2240280" cy="1024128"/>
          </a:xfrm>
          <a:prstGeom prst="roundRect">
            <a:avLst/>
          </a:prstGeom>
          <a:solidFill>
            <a:srgbClr val="F0EAFE"/>
          </a:solidFill>
          <a:ln w="17145">
            <a:solidFill>
              <a:srgbClr val="967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 tIns="5029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67AE2"/>
                </a:solidFill>
                <a:latin typeface="Aptos"/>
              </a:rPr>
              <a:t>TESTE DI DETECTION E SEGMENTAZIONE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23364D"/>
                </a:solidFill>
                <a:latin typeface="Aptos"/>
              </a:rPr>
              <a:t>Classe e bounding box</a:t>
            </a:r>
            <a:br/>
            <a:r>
              <a:rPr sz="1000">
                <a:solidFill>
                  <a:srgbClr val="23364D"/>
                </a:solidFill>
                <a:latin typeface="Aptos"/>
              </a:rPr>
              <a:t>Coefficienti delle maschere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985488" y="1280160"/>
            <a:ext cx="256032" cy="256032"/>
          </a:xfrm>
          <a:prstGeom prst="rightArrow">
            <a:avLst/>
          </a:prstGeom>
          <a:solidFill>
            <a:srgbClr val="667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314672" y="896112"/>
            <a:ext cx="2468880" cy="1024128"/>
          </a:xfrm>
          <a:prstGeom prst="roundRect">
            <a:avLst/>
          </a:prstGeom>
          <a:solidFill>
            <a:srgbClr val="FFF1DA"/>
          </a:solidFill>
          <a:ln w="17145"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 tIns="5029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70" b="1">
                <a:solidFill>
                  <a:srgbClr val="D99A2B"/>
                </a:solidFill>
                <a:latin typeface="Aptos"/>
              </a:rPr>
              <a:t>OUTPUT PER ISTANZA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23364D"/>
                </a:solidFill>
                <a:latin typeface="Aptos"/>
              </a:rPr>
              <a:t>Maschera ricostruita da Proto × coefficienti</a:t>
            </a:r>
            <a:br/>
            <a:r>
              <a:rPr sz="980">
                <a:solidFill>
                  <a:srgbClr val="23364D"/>
                </a:solidFill>
                <a:latin typeface="Aptos"/>
              </a:rPr>
              <a:t>Associata alla classe e alla bounding box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28962"/>
            <a:ext cx="3505200" cy="1209675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128962"/>
            <a:ext cx="3505200" cy="1209675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128962"/>
            <a:ext cx="3505200" cy="1209675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Pipeline Compatta e Moduli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367087"/>
            <a:ext cx="39754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Blocchi Ghost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662362"/>
            <a:ext cx="31242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10" b="0" i="0" u="none">
                <a:solidFill>
                  <a:srgbClr val="475569"/>
                </a:solidFill>
                <a:latin typeface="Plus Jakarta Sans"/>
              </a:rPr>
              <a:t>Riduzione dei parametri tramite convoluzioni economiche, con operazioni depthwise.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1525" y="3367087"/>
            <a:ext cx="39754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RepBlock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525" y="3662362"/>
            <a:ext cx="31242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Rami multipli in addestramento fusi in una sola convoluzione 3×3.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5325" y="3367087"/>
            <a:ext cx="38766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SimAM &amp; DSIoU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5325" y="3662362"/>
            <a:ext cx="31242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1" i="0" u="none">
                <a:solidFill>
                  <a:srgbClr val="475569"/>
                </a:solidFill>
                <a:latin typeface="Plus Jakarta Sans"/>
              </a:rPr>
              <a:t>SimAM:</a:t>
            </a:r>
            <a:r>
              <a:rPr sz="1230" b="0">
                <a:solidFill>
                  <a:srgbClr val="475569"/>
                </a:solidFill>
                <a:latin typeface="Plus Jakarta Sans"/>
              </a:rPr>
              <a:t> attenzione senza parametri apprendibili. </a:t>
            </a:r>
            <a:r>
              <a:rPr sz="1230" b="1">
                <a:solidFill>
                  <a:srgbClr val="475569"/>
                </a:solidFill>
                <a:latin typeface="Plus Jakarta Sans"/>
              </a:rPr>
              <a:t>DSIoU:</a:t>
            </a:r>
            <a:r>
              <a:rPr sz="1230" b="0">
                <a:solidFill>
                  <a:srgbClr val="475569"/>
                </a:solidFill>
                <a:latin typeface="Plus Jakarta Sans"/>
              </a:rPr>
              <a:t> loss pesata sui bordi, usata soltanto nel training.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28016"/>
            <a:ext cx="11667744" cy="36576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7365D"/>
                </a:solidFill>
                <a:latin typeface="Aptos"/>
              </a:rPr>
              <a:t>YOLO-MS — architettura implementata nel progetto S2DS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84632"/>
            <a:ext cx="11612880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40" b="0" i="0">
                <a:solidFill>
                  <a:srgbClr val="5D6D80"/>
                </a:solidFill>
                <a:latin typeface="Aptos"/>
              </a:rPr>
              <a:t>Backbone e Neck derivati da YOLOv8-Seg, testa semantica personalizzata e DSIoU applicata solo durante il training.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2624328"/>
            <a:ext cx="3813048" cy="1161288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579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2715768"/>
            <a:ext cx="3575304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40" b="1" i="0">
                <a:solidFill>
                  <a:srgbClr val="5793D4"/>
                </a:solidFill>
                <a:latin typeface="Aptos"/>
              </a:rPr>
              <a:t>1 · Backbone e Neck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017520"/>
            <a:ext cx="3575304" cy="6858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90" b="0" i="0">
                <a:solidFill>
                  <a:srgbClr val="23364D"/>
                </a:solidFill>
                <a:latin typeface="Aptos"/>
              </a:rPr>
              <a:t>Con Ghost attivo, i bottleneck interni ai C2f diventano GhostBottleneck; alcune convoluzioni stride 2 del Neck diventano GhostDown. Il routing PAN-FPN resta quello YOLOv8.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87952" y="2624328"/>
            <a:ext cx="3813048" cy="1161288"/>
          </a:xfrm>
          <a:prstGeom prst="roundRect">
            <a:avLst/>
          </a:prstGeom>
          <a:solidFill>
            <a:srgbClr val="F0EAFE"/>
          </a:solidFill>
          <a:ln w="12700">
            <a:solidFill>
              <a:srgbClr val="967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6824" y="2715768"/>
            <a:ext cx="3575304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40" b="1" i="0">
                <a:solidFill>
                  <a:srgbClr val="967AE2"/>
                </a:solidFill>
                <a:latin typeface="Aptos"/>
              </a:rPr>
              <a:t>2 · Fusione delle feature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6824" y="3017520"/>
            <a:ext cx="3575304" cy="6858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90" b="0" i="0">
                <a:solidFill>
                  <a:srgbClr val="23364D"/>
                </a:solidFill>
                <a:latin typeface="Aptos"/>
              </a:rPr>
              <a:t>La testa riutilizza Proto e combina feature P4/P5 con collegamenti skip ad alta risoluzione. RepBlock è usato nei blocchi di fusione quando previsto dalla configurazione.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2624328"/>
            <a:ext cx="3813048" cy="1161288"/>
          </a:xfrm>
          <a:prstGeom prst="roundRect">
            <a:avLst/>
          </a:prstGeom>
          <a:solidFill>
            <a:srgbClr val="E0F5F2"/>
          </a:solidFill>
          <a:ln w="12700">
            <a:solidFill>
              <a:srgbClr val="329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2715768"/>
            <a:ext cx="3575304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40" b="1" i="0">
                <a:solidFill>
                  <a:srgbClr val="329D93"/>
                </a:solidFill>
                <a:latin typeface="Aptos"/>
              </a:rPr>
              <a:t>3 · Testa semantica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6" y="3017520"/>
            <a:ext cx="3575304" cy="6858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90" b="0" i="0">
                <a:solidFill>
                  <a:srgbClr val="23364D"/>
                </a:solidFill>
                <a:latin typeface="Aptos"/>
              </a:rPr>
              <a:t>SimAM è opzionale. La fusione finale e la convoluzione 1×1 producono un solo canale di logits, uno per pixel: non vengono restituite bounding box o maschere per istanza.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" y="3931920"/>
            <a:ext cx="5733288" cy="1197864"/>
          </a:xfrm>
          <a:prstGeom prst="roundRect">
            <a:avLst/>
          </a:prstGeom>
          <a:solidFill>
            <a:srgbClr val="FFF1DA"/>
          </a:solidFill>
          <a:ln w="12700"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4023359"/>
            <a:ext cx="5495544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99A2B"/>
                </a:solidFill>
                <a:latin typeface="Aptos"/>
              </a:rPr>
              <a:t>4 · Loss DSIoU (solo training)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4325112"/>
            <a:ext cx="5495544" cy="72237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10" b="0" i="0">
                <a:solidFill>
                  <a:srgbClr val="23364D"/>
                </a:solidFill>
                <a:latin typeface="Aptos"/>
              </a:rPr>
              <a:t>La loss combina BCE e soft-IoU, con peso aggiuntivo agli errori vicino ai bordi. DSIoU guida l’ottimizzazione, ma non viene calcolata per generare la predizione in inferenza.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931920"/>
            <a:ext cx="5833872" cy="1197864"/>
          </a:xfrm>
          <a:prstGeom prst="roundRect">
            <a:avLst/>
          </a:prstGeom>
          <a:solidFill>
            <a:srgbClr val="FCE9EF"/>
          </a:solidFill>
          <a:ln w="12700">
            <a:solidFill>
              <a:srgbClr val="CF6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4023359"/>
            <a:ext cx="5596128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F6886"/>
                </a:solidFill>
                <a:latin typeface="Aptos"/>
              </a:rPr>
              <a:t>5 · Transfer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4325112"/>
            <a:ext cx="5596128" cy="72237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10" b="0" i="0">
                <a:solidFill>
                  <a:srgbClr val="23364D"/>
                </a:solidFill>
                <a:latin typeface="Aptos"/>
              </a:rPr>
              <a:t>Si riutilizzano i pesi compatibili del modello YOLOv8-Seg pre-addestrato e il modulo Proto. La SemHead e gli altri moduli nuovi vengono addestrati con warm-up e successivo fine-tuning.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" y="5285232"/>
            <a:ext cx="11731752" cy="969264"/>
          </a:xfrm>
          <a:prstGeom prst="roundRect">
            <a:avLst/>
          </a:prstGeom>
          <a:solidFill>
            <a:srgbClr val="EDF3FB"/>
          </a:solidFill>
          <a:ln w="12700"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5413248"/>
            <a:ext cx="11411712" cy="7132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20" b="0" i="0">
                <a:solidFill>
                  <a:srgbClr val="17365D"/>
                </a:solidFill>
                <a:latin typeface="Aptos"/>
              </a:rPr>
              <a:t>Output e nota metodologica: il modello produce una singola maschera semantica binaria (corrosione + spalling). La topologia PAN-FPN di YOLOv8 è mantenuta con modifiche selettive: l’implementazione del progetto non è una replica completa del RepGFPN-Lite descritto nel paper.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5264" y="832104"/>
            <a:ext cx="1298448" cy="1005840"/>
          </a:xfrm>
          <a:prstGeom prst="roundRect">
            <a:avLst/>
          </a:prstGeom>
          <a:solidFill>
            <a:srgbClr val="E8F1FF"/>
          </a:solidFill>
          <a:ln w="17145">
            <a:solidFill>
              <a:srgbClr val="579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 tIns="5029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40" b="1">
                <a:solidFill>
                  <a:srgbClr val="5793D4"/>
                </a:solidFill>
                <a:latin typeface="Aptos"/>
              </a:rPr>
              <a:t>INPUT S2DS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>
                <a:solidFill>
                  <a:srgbClr val="23364D"/>
                </a:solidFill>
                <a:latin typeface="Aptos"/>
              </a:rPr>
              <a:t>RGB</a:t>
            </a:r>
            <a:br/>
            <a:r>
              <a:rPr sz="1030">
                <a:solidFill>
                  <a:srgbClr val="23364D"/>
                </a:solidFill>
                <a:latin typeface="Aptos"/>
              </a:rPr>
              <a:t>256 × 256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697720" y="1207007"/>
            <a:ext cx="237744" cy="256032"/>
          </a:xfrm>
          <a:prstGeom prst="rightArrow">
            <a:avLst/>
          </a:prstGeom>
          <a:solidFill>
            <a:srgbClr val="667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99472" y="832104"/>
            <a:ext cx="2148840" cy="1005840"/>
          </a:xfrm>
          <a:prstGeom prst="roundRect">
            <a:avLst/>
          </a:prstGeom>
          <a:solidFill>
            <a:srgbClr val="E8F1FF"/>
          </a:solidFill>
          <a:ln w="17145">
            <a:solidFill>
              <a:srgbClr val="579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 tIns="5029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1">
                <a:solidFill>
                  <a:srgbClr val="5793D4"/>
                </a:solidFill>
                <a:latin typeface="Aptos"/>
              </a:rPr>
              <a:t>BACKBONE + NECK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>
                <a:solidFill>
                  <a:srgbClr val="23364D"/>
                </a:solidFill>
                <a:latin typeface="Aptos"/>
              </a:rPr>
              <a:t>C2f / SPPF + PAN-FPN</a:t>
            </a:r>
            <a:br/>
            <a:r>
              <a:rPr sz="940">
                <a:solidFill>
                  <a:srgbClr val="23364D"/>
                </a:solidFill>
                <a:latin typeface="Aptos"/>
              </a:rPr>
              <a:t>GhostBottleneck e GhostDown</a:t>
            </a:r>
            <a:br/>
            <a:r>
              <a:rPr sz="940">
                <a:solidFill>
                  <a:srgbClr val="23364D"/>
                </a:solidFill>
                <a:latin typeface="Aptos"/>
              </a:rPr>
              <a:t>quando la configurazione li attiva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212320" y="1207007"/>
            <a:ext cx="237744" cy="256032"/>
          </a:xfrm>
          <a:prstGeom prst="rightArrow">
            <a:avLst/>
          </a:prstGeom>
          <a:solidFill>
            <a:srgbClr val="667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14072" y="832104"/>
            <a:ext cx="1856231" cy="1005840"/>
          </a:xfrm>
          <a:prstGeom prst="roundRect">
            <a:avLst/>
          </a:prstGeom>
          <a:solidFill>
            <a:srgbClr val="E4F5EC"/>
          </a:solidFill>
          <a:ln w="17145">
            <a:solidFill>
              <a:srgbClr val="46A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 tIns="5029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1">
                <a:solidFill>
                  <a:srgbClr val="46A77A"/>
                </a:solidFill>
                <a:latin typeface="Aptos"/>
              </a:rPr>
              <a:t>FEATURE MULTI-SCALA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23364D"/>
                </a:solidFill>
                <a:latin typeface="Aptos"/>
              </a:rPr>
              <a:t>P3 / P4 / P5</a:t>
            </a:r>
            <a:br/>
            <a:r>
              <a:rPr sz="980">
                <a:solidFill>
                  <a:srgbClr val="23364D"/>
                </a:solidFill>
                <a:latin typeface="Aptos"/>
              </a:rPr>
              <a:t>Proto + skip ad alta risoluzione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434312" y="1207007"/>
            <a:ext cx="237744" cy="256032"/>
          </a:xfrm>
          <a:prstGeom prst="rightArrow">
            <a:avLst/>
          </a:prstGeom>
          <a:solidFill>
            <a:srgbClr val="667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736064" y="832104"/>
            <a:ext cx="2670048" cy="1005840"/>
          </a:xfrm>
          <a:prstGeom prst="roundRect">
            <a:avLst/>
          </a:prstGeom>
          <a:solidFill>
            <a:srgbClr val="F0EAFE"/>
          </a:solidFill>
          <a:ln w="17145">
            <a:solidFill>
              <a:srgbClr val="967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 tIns="5029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60" b="1">
                <a:solidFill>
                  <a:srgbClr val="967AE2"/>
                </a:solidFill>
                <a:latin typeface="Aptos"/>
              </a:rPr>
              <a:t>TESTA SEMANTICA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23364D"/>
                </a:solidFill>
                <a:latin typeface="Aptos"/>
              </a:rPr>
              <a:t>Fusione delle feature + upsampling</a:t>
            </a:r>
            <a:br/>
            <a:r>
              <a:rPr sz="980">
                <a:solidFill>
                  <a:srgbClr val="23364D"/>
                </a:solidFill>
                <a:latin typeface="Aptos"/>
              </a:rPr>
              <a:t>RepBlock quando previsto</a:t>
            </a:r>
            <a:br/>
            <a:r>
              <a:rPr sz="980">
                <a:solidFill>
                  <a:srgbClr val="23364D"/>
                </a:solidFill>
                <a:latin typeface="Aptos"/>
              </a:rPr>
              <a:t>SimAM opzionale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470120" y="1207007"/>
            <a:ext cx="237744" cy="256032"/>
          </a:xfrm>
          <a:prstGeom prst="rightArrow">
            <a:avLst/>
          </a:prstGeom>
          <a:solidFill>
            <a:srgbClr val="667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71872" y="832104"/>
            <a:ext cx="2084831" cy="1005840"/>
          </a:xfrm>
          <a:prstGeom prst="roundRect">
            <a:avLst/>
          </a:prstGeom>
          <a:solidFill>
            <a:srgbClr val="E0F5F2"/>
          </a:solidFill>
          <a:ln w="17145">
            <a:solidFill>
              <a:srgbClr val="329D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 tIns="5029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20" b="1">
                <a:solidFill>
                  <a:srgbClr val="329D93"/>
                </a:solidFill>
                <a:latin typeface="Aptos"/>
              </a:rPr>
              <a:t>OUTPUT PIXEL-WISE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>
                <a:solidFill>
                  <a:srgbClr val="23364D"/>
                </a:solidFill>
                <a:latin typeface="Aptos"/>
              </a:rPr>
              <a:t>Conv 1×1 → un logit per pixel</a:t>
            </a:r>
            <a:br/>
            <a:r>
              <a:rPr sz="960">
                <a:solidFill>
                  <a:srgbClr val="23364D"/>
                </a:solidFill>
                <a:latin typeface="Aptos"/>
              </a:rPr>
              <a:t>Una maschera binaria: corrosione + spalling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" y="1956816"/>
            <a:ext cx="11311128" cy="393192"/>
          </a:xfrm>
          <a:prstGeom prst="roundRect">
            <a:avLst/>
          </a:prstGeom>
          <a:solidFill>
            <a:srgbClr val="FFF1DA"/>
          </a:solidFill>
          <a:ln w="12700"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8C5D00"/>
                </a:solidFill>
                <a:latin typeface="Aptos"/>
              </a:rPr>
              <a:t>SOLO DURANTE IL TRAINING  ·  Maschera predetta + ground truth → BCE + soft-IoU con peso aggiuntivo sugli errori di bordo (DSIoU)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52687"/>
            <a:ext cx="5334000" cy="2562225"/>
          </a:xfrm>
          <a:prstGeom prst="roundRect">
            <a:avLst>
              <a:gd name="adj" fmla="val 59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886075"/>
            <a:ext cx="5334000" cy="1695450"/>
          </a:xfrm>
          <a:prstGeom prst="roundRect">
            <a:avLst>
              <a:gd name="adj" fmla="val 89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Risultati Principali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925" y="2767012"/>
            <a:ext cx="61757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Confronto Prestazionale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57537"/>
            <a:ext cx="48006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40" b="1" i="0" u="none">
                <a:solidFill>
                  <a:srgbClr val="475569"/>
                </a:solidFill>
                <a:latin typeface="Plus Jakarta Sans"/>
              </a:rPr>
              <a:t>IoU sui difetti: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/>
            </a:r>
            <a:r>
              <a:rPr sz="1240" b="0">
                <a:solidFill>
                  <a:srgbClr val="475569"/>
                </a:solidFill>
                <a:latin typeface="Plus Jakarta Sans"/>
              </a:rPr>
              <a:t> ms_base 88,5%, YOLO 86,5%; differenza non conclusiva (IC95% comprende 0). MS-Full: 85,2%.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709987"/>
            <a:ext cx="48006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475569"/>
                </a:solidFill>
                <a:latin typeface="Plus Jakarta Sans"/>
              </a:rPr>
              <a:t>AUC a livello di tile: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/>
            </a:r>
            <a:r>
              <a:rPr sz="1300" b="0">
                <a:solidFill>
                  <a:srgbClr val="475569"/>
                </a:solidFill>
                <a:latin typeface="Plus Jakarta Sans"/>
              </a:rPr>
              <a:t> 95,9–97,7% per le varianti MS rispetto al 90,5% di YOLO.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262437"/>
            <a:ext cx="48006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0" b="1" i="0" u="none">
                <a:solidFill>
                  <a:srgbClr val="475569"/>
                </a:solidFill>
                <a:latin typeface="Plus Jakarta Sans"/>
              </a:rPr>
              <a:t>Transfer learning: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/>
            </a:r>
            <a:r>
              <a:rPr sz="1260" b="0">
                <a:solidFill>
                  <a:srgbClr val="475569"/>
                </a:solidFill>
                <a:latin typeface="Plus Jakarta Sans"/>
              </a:rPr>
              <a:t> aumento dell’IoU sui difetti più netto per ms_base (+6,3 punti); effetto su ms_full non conclusivo.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200400"/>
            <a:ext cx="56292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Punto Chiave: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495675"/>
            <a:ext cx="48006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00" b="0" i="0" u="none">
                <a:solidFill>
                  <a:srgbClr val="334155"/>
                </a:solidFill>
                <a:latin typeface="Plus Jakarta Sans"/>
              </a:rPr>
              <a:t>ms_base è competitivo; Ghost peggiora il compromesso, soprattutto in ms_full (−2,9 punti di IoU sui difetti e +7,7 punti di FP &gt;1% rispetto a ms_base).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743075"/>
            <a:ext cx="10972800" cy="4048125"/>
          </a:xfrm>
          <a:prstGeom prst="roundRect">
            <a:avLst>
              <a:gd name="adj" fmla="val 2823"/>
            </a:avLst>
          </a:pr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19125" y="2143125"/>
            <a:ext cx="2052935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672060" y="2143125"/>
            <a:ext cx="1701403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73463" y="2143125"/>
            <a:ext cx="1434107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07571" y="2143125"/>
            <a:ext cx="29527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760321" y="2143125"/>
            <a:ext cx="1406128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166449" y="2143125"/>
            <a:ext cx="1406425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125" y="2514600"/>
            <a:ext cx="20529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72060" y="2514600"/>
            <a:ext cx="17014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3463" y="2514600"/>
            <a:ext cx="14341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07571" y="2514600"/>
            <a:ext cx="2952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760321" y="2514600"/>
            <a:ext cx="14061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166449" y="2514600"/>
            <a:ext cx="14064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125" y="2876550"/>
            <a:ext cx="20529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672060" y="2876550"/>
            <a:ext cx="17014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73463" y="2876550"/>
            <a:ext cx="14341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07571" y="2876550"/>
            <a:ext cx="2952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760321" y="2876550"/>
            <a:ext cx="14061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166449" y="2876550"/>
            <a:ext cx="14064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125" y="3238500"/>
            <a:ext cx="20529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72060" y="3238500"/>
            <a:ext cx="17014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73463" y="3238500"/>
            <a:ext cx="14341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07571" y="3238500"/>
            <a:ext cx="2952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760321" y="3238500"/>
            <a:ext cx="14061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166449" y="3238500"/>
            <a:ext cx="14064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9125" y="3600450"/>
            <a:ext cx="20529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672060" y="3600450"/>
            <a:ext cx="17014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73463" y="3600450"/>
            <a:ext cx="14341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807571" y="3600450"/>
            <a:ext cx="2952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760321" y="3600450"/>
            <a:ext cx="14061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166449" y="3600450"/>
            <a:ext cx="14064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9125" y="3962400"/>
            <a:ext cx="20529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672060" y="3962400"/>
            <a:ext cx="17014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73463" y="3962400"/>
            <a:ext cx="14341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807571" y="3962400"/>
            <a:ext cx="2952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760321" y="3962400"/>
            <a:ext cx="14061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166449" y="3962400"/>
            <a:ext cx="14064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19125" y="4324350"/>
            <a:ext cx="20529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672060" y="4324350"/>
            <a:ext cx="17014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373463" y="4324350"/>
            <a:ext cx="14341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807571" y="4324350"/>
            <a:ext cx="2952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760321" y="4324350"/>
            <a:ext cx="14061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166449" y="4324350"/>
            <a:ext cx="14064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19125" y="4686300"/>
            <a:ext cx="20529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672060" y="4686300"/>
            <a:ext cx="17014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373463" y="4686300"/>
            <a:ext cx="14341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807571" y="4686300"/>
            <a:ext cx="2952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760321" y="4686300"/>
            <a:ext cx="14061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0166449" y="4686300"/>
            <a:ext cx="14064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19125" y="5048250"/>
            <a:ext cx="20529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2672060" y="5048250"/>
            <a:ext cx="17014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373463" y="5048250"/>
            <a:ext cx="14341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807571" y="5048250"/>
            <a:ext cx="2952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760321" y="5048250"/>
            <a:ext cx="14061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0166449" y="5048250"/>
            <a:ext cx="14064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19125" y="5410200"/>
            <a:ext cx="20529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2672060" y="5410200"/>
            <a:ext cx="17014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4373463" y="5410200"/>
            <a:ext cx="14341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807571" y="5410200"/>
            <a:ext cx="2952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760321" y="5410200"/>
            <a:ext cx="14061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0166449" y="5410200"/>
            <a:ext cx="14064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19125" y="5772150"/>
            <a:ext cx="20529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2672060" y="5772150"/>
            <a:ext cx="17014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4373463" y="5772150"/>
            <a:ext cx="14341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807571" y="5772150"/>
            <a:ext cx="2952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760321" y="5772150"/>
            <a:ext cx="14061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0166449" y="5772150"/>
            <a:ext cx="14064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619125" y="1752600"/>
          <a:ext cx="10953748" cy="4029075"/>
        </p:xfrm>
        <a:graphic>
          <a:graphicData uri="http://schemas.openxmlformats.org/drawingml/2006/table">
            <a:tbl>
              <a:tblPr/>
              <a:tblGrid>
                <a:gridCol w="2052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6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6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6279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Configurazione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IoU complessiva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IoU sui difetti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IoU medio per tessera positiva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FP &gt; 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AUC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279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JetBrains Mono"/>
                        </a:rPr>
                        <a:t>yolo_pre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78,5 ± 2,8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86,5 ± 0,7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73,9 ± 3,8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10,9 ± 1,5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90,5 ± 3,3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279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369A1"/>
                          </a:solidFill>
                          <a:latin typeface="JetBrains Mono"/>
                        </a:rPr>
                        <a:t>ms_base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 i="0" u="none">
                          <a:solidFill>
                            <a:srgbClr val="0369A1"/>
                          </a:solidFill>
                          <a:latin typeface="JetBrains Mono"/>
                        </a:rPr>
                        <a:t>86,2 ± 0,9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 i="0" u="none">
                          <a:solidFill>
                            <a:srgbClr val="0369A1"/>
                          </a:solidFill>
                          <a:latin typeface="JetBrains Mono"/>
                        </a:rPr>
                        <a:t>88,5 ± 1,0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 i="0" u="none">
                          <a:solidFill>
                            <a:srgbClr val="0369A1"/>
                          </a:solidFill>
                          <a:latin typeface="JetBrains Mono"/>
                        </a:rPr>
                        <a:t>78,7 ± 1,6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 i="0" u="none">
                          <a:solidFill>
                            <a:srgbClr val="0369A1"/>
                          </a:solidFill>
                          <a:latin typeface="JetBrains Mono"/>
                        </a:rPr>
                        <a:t>11,8 ± 2,1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 i="0" u="none">
                          <a:solidFill>
                            <a:srgbClr val="0369A1"/>
                          </a:solidFill>
                          <a:latin typeface="JetBrains Mono"/>
                        </a:rPr>
                        <a:t>96,9 ± 0,3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279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JetBrains Mono"/>
                        </a:rPr>
                        <a:t>ms_ghost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81,8 ± 2,0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85,6 ± 1,3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74,9 ± 1,7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19,4 ± 2,6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95,9 ± 0,7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279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JetBrains Mono"/>
                        </a:rPr>
                        <a:t>ms_rep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85,9 ± 1,7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89,4 ± 0,8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80,6 ± 0,8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13,0 ± 3,6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97,1 ± 1,5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279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JetBrains Mono"/>
                        </a:rPr>
                        <a:t>ms_simam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86,9 ± 0,3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89,2 ± 0,8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79,5 ± 1,3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11,2 ± 2,1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97,4 ± 0,8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279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JetBrains Mono"/>
                        </a:rPr>
                        <a:t>ms_dsiou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86,9 ± 0,7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88,9 ± 0,5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79,5 ± 0,3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13,5 ± 1,7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97,7 ± 0,5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6279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JetBrains Mono"/>
                        </a:rPr>
                        <a:t>ms_full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80,8 ± 0,8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85,2 ± 0,2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74,8 ± 0,6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22,5 ± 3,2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96,0 ± 0,9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6279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JetBrains Mono"/>
                        </a:rPr>
                        <a:t>yolo_scratch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75,8 ± 3,9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83,0 ± 1,5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70,2 ± 3,5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10,9 ± 6,8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89,2 ± 0,4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6279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JetBrains Mono"/>
                        </a:rPr>
                        <a:t>ms_base_scratch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77,9 ± 2,5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82,2 ± 2,2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72,8 ± 1,6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24,4 ± 2,4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95,7 ± 0,8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628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JetBrains Mono"/>
                        </a:rPr>
                        <a:t>ms_full_scratch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77,5 ± 0,6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84,2 ± 0,4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74,8 ± 1,3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31,6 ± 1,9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93,9 ± 0,7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1" name="TextBox 70"/>
          <p:cNvSpPr txBox="1"/>
          <p:nvPr/>
        </p:nvSpPr>
        <p:spPr>
          <a:xfrm>
            <a:off x="609600" y="6257925"/>
            <a:ext cx="45243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Tabella 2. Risultati principali dalle sperimentazioni di progetto S2DS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15275" y="1047750"/>
            <a:ext cx="42767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Valori in %, media ± deviazione standard (seed 0, 1, 2)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67825" y="6257925"/>
            <a:ext cx="289321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Inter"/>
              </a:rPr>
              <a:t>Modello Baseline di Riferimento (ms_base)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9600" y="819150"/>
            <a:ext cx="4300537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4.4 Risultati Principali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28912"/>
            <a:ext cx="5334000" cy="2009775"/>
          </a:xfrm>
          <a:prstGeom prst="roundRect">
            <a:avLst>
              <a:gd name="adj" fmla="val 75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838450"/>
            <a:ext cx="5334000" cy="1790700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Falsi Positivi e Dimensioni Difetti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925" y="3043237"/>
            <a:ext cx="61757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Comportamento negli Errori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433762"/>
            <a:ext cx="48006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1" i="0" u="none">
                <a:solidFill>
                  <a:srgbClr val="475569"/>
                </a:solidFill>
                <a:latin typeface="Plus Jakarta Sans"/>
              </a:rPr>
              <a:t>YOLOv8s-seg: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/>
            </a:r>
            <a:r>
              <a:rPr sz="1220" b="0">
                <a:solidFill>
                  <a:srgbClr val="475569"/>
                </a:solidFill>
                <a:latin typeface="Plus Jakarta Sans"/>
              </a:rPr>
              <a:t> FP ≥1 pixel nell’11% delle patch pulite; se presenti, area mediana ≈35% della patch.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986212"/>
            <a:ext cx="48006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Plus Jakarta Sans"/>
              </a:rPr>
              <a:t>MS semantici: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/>
            </a:r>
            <a:r>
              <a:rPr sz="1200" b="0">
                <a:solidFill>
                  <a:srgbClr val="475569"/>
                </a:solidFill>
                <a:latin typeface="Plus Jakarta Sans"/>
              </a:rPr>
              <a:t> FP ≥1 pixel nel 19% (ms_base) e 34% (ms_full) delle patch pulite; regioni spesso 1–3% dell’area.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152775"/>
            <a:ext cx="56292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Plus Jakarta Sans"/>
              </a:rPr>
              <a:t>Difetti piccoli: due misure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543300"/>
            <a:ext cx="56292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10" b="1" i="0" u="none">
                <a:solidFill>
                  <a:srgbClr val="475569"/>
                </a:solidFill>
                <a:latin typeface="Plus Jakarta Sans"/>
              </a:rPr>
              <a:t>Fascia 2–10%:</a:t>
            </a:r>
            <a:r>
              <a:rPr sz="1310" b="0" i="0" u="none">
                <a:solidFill>
                  <a:srgbClr val="475569"/>
                </a:solidFill>
                <a:latin typeface="Plus Jakarta Sans"/>
              </a:rPr>
              <a:t> ms_base IoU 52,8%; YOLOv8s-seg 41,6%.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876675"/>
            <a:ext cx="48006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40" b="1" i="0" u="none">
                <a:solidFill>
                  <a:srgbClr val="475569"/>
                </a:solidFill>
                <a:latin typeface="Plus Jakarta Sans"/>
              </a:rPr>
              <a:t>Analisi aggregata ≤10%: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/>
            </a:r>
            <a:r>
              <a:rPr sz="1140" b="0">
                <a:solidFill>
                  <a:srgbClr val="475569"/>
                </a:solidFill>
                <a:latin typeface="Plus Jakarta Sans"/>
              </a:rPr>
              <a:t> +11,6 punti (IC95% +1,1/+20,1); risultato esplorativo, senza IC specifici per la singola fascia.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4526280"/>
            <a:ext cx="48006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i="1">
                <a:solidFill>
                  <a:srgbClr val="64748B"/>
                </a:solidFill>
                <a:latin typeface="Plus Jakarta Sans"/>
              </a:rPr>
              <a:t>Nota: qui FP = ≥1 pixel; la tabella principale riporta FP &gt;1% dell’area.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33687"/>
            <a:ext cx="3505200" cy="1800225"/>
          </a:xfrm>
          <a:prstGeom prst="roundRect">
            <a:avLst>
              <a:gd name="adj" fmla="val 84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724150"/>
            <a:ext cx="3505200" cy="201930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33687"/>
            <a:ext cx="3505200" cy="1800225"/>
          </a:xfrm>
          <a:prstGeom prst="roundRect">
            <a:avLst>
              <a:gd name="adj" fmla="val 84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Costo Computazionale (RTX 5050)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109912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Parametri e FLOPs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405187"/>
            <a:ext cx="3048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YOLOv8s-seg: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11.81 M / 6.41 GFLOPs.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919537"/>
            <a:ext cx="3048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Plus Jakarta Sans"/>
              </a:rPr>
              <a:t>ms_ghost / ms_full: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/>
            </a:r>
            <a:r>
              <a:rPr sz="1200" b="0">
                <a:solidFill>
                  <a:srgbClr val="475569"/>
                </a:solidFill>
                <a:latin typeface="Plus Jakarta Sans"/>
              </a:rPr>
              <a:t> 5,76 M / 4,50 GFLOPs: −51% parametri e −30% GFLOPs rispetto a YOLO.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000375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Latenza GPU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295650"/>
            <a:ext cx="3048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1" i="0" u="none">
                <a:solidFill>
                  <a:srgbClr val="475569"/>
                </a:solidFill>
                <a:latin typeface="Plus Jakarta Sans"/>
              </a:rPr>
              <a:t>Batch 1: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/>
            </a:r>
            <a:r>
              <a:rPr sz="1280" b="0">
                <a:solidFill>
                  <a:srgbClr val="475569"/>
                </a:solidFill>
                <a:latin typeface="Plus Jakarta Sans"/>
              </a:rPr>
              <a:t> 8,9 ms YOLO; 6,9 ms ms_base; 8,5–8,8 ms Ghost/Full.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9625" y="3810000"/>
            <a:ext cx="304800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40" b="0" i="0" u="none">
                <a:solidFill>
                  <a:srgbClr val="475569"/>
                </a:solidFill>
                <a:latin typeface="Plus Jakarta Sans"/>
              </a:rPr>
              <a:t>Più compatto non significa più veloce: ms_full è simile a YOLO e più lento di ms_base su GPU.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109912"/>
            <a:ext cx="38385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Latenza CPU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3425" y="3405187"/>
            <a:ext cx="3048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1" i="0" u="none">
                <a:solidFill>
                  <a:srgbClr val="475569"/>
                </a:solidFill>
                <a:latin typeface="Plus Jakarta Sans"/>
              </a:rPr>
              <a:t>CPU a 1 thread: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/>
            </a:r>
            <a:r>
              <a:rPr sz="1280" b="0">
                <a:solidFill>
                  <a:srgbClr val="475569"/>
                </a:solidFill>
                <a:latin typeface="Plus Jakarta Sans"/>
              </a:rPr>
              <a:t> 96 ms YOLO; 70 ms ms_ghost; 85 ms ms_full.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919537"/>
            <a:ext cx="3048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0" i="0" u="none">
                <a:solidFill>
                  <a:srgbClr val="475569"/>
                </a:solidFill>
                <a:latin typeface="Plus Jakarta Sans"/>
              </a:rPr>
              <a:t>Rispetto a YOLO: circa −27% Ghost e −11% Full; misure sul portatile, non su hardware embedded.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21223"/>
            <a:ext cx="350520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121223"/>
            <a:ext cx="350520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121223"/>
            <a:ext cx="350520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387923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3387923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900" y="3387923"/>
            <a:ext cx="38100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POTENZIALI APPLICAZIONI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239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Applicazioni Pratiche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883223"/>
            <a:ext cx="3900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F172A"/>
                </a:solidFill>
                <a:latin typeface="Inter"/>
              </a:rPr>
              <a:t>Ispezioni</a:t>
            </a:r>
            <a:r>
              <a:rPr sz="1350" b="1" i="0" u="none" dirty="0">
                <a:solidFill>
                  <a:srgbClr val="0F172A"/>
                </a:solidFill>
                <a:latin typeface="Inter"/>
              </a:rPr>
              <a:t> con </a:t>
            </a:r>
            <a:r>
              <a:rPr sz="1350" b="1" i="0" u="none" dirty="0" err="1">
                <a:solidFill>
                  <a:srgbClr val="0F172A"/>
                </a:solidFill>
                <a:latin typeface="Inter"/>
              </a:rPr>
              <a:t>Droni</a:t>
            </a:r>
            <a:endParaRPr sz="135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6300" y="4159448"/>
            <a:ext cx="30670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u="none">
                <a:solidFill>
                  <a:srgbClr val="64748B"/>
                </a:solidFill>
                <a:latin typeface="Inter"/>
              </a:rPr>
              <a:t>Monitoraggio automatizzato di viadotti, ponti e dighe, con acquisizione di immagini sul campo.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883223"/>
            <a:ext cx="3900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Integrazione BIM &amp; Gemelli Digitali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4159448"/>
            <a:ext cx="30670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Mappatura 3D dei difetti direttamente sul modello informativo dell'infrastruttura.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883223"/>
            <a:ext cx="38481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Manutenzione Predittiva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4159448"/>
            <a:ext cx="30670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Stima dell'evoluzione del danno per pianificare interventi di ripristino mirati.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8791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28791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28791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PROSPETTIVE TECNOLOGICHE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239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Sviluppi Futuri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554610"/>
            <a:ext cx="3900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Analisi Multimodale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30835"/>
            <a:ext cx="30670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Integrazione di immagini termografiche e dati ultrasonici per valutare difetti interni non visibili.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0100" y="3554610"/>
            <a:ext cx="3900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Edge Computing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0100" y="3830835"/>
            <a:ext cx="30670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Ottimizzazione dei modelli per inferenza diretta su dispositivi embedded a bordo drone.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3554610"/>
            <a:ext cx="38481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Monitoraggio Temporale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3900" y="3830835"/>
            <a:ext cx="30670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Algoritmi di rilevamento dei cambiamenti nel tempo per valutare il tasso di propagazione delle crepe.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347912" y="3838575"/>
            <a:ext cx="3533775" cy="695325"/>
          </a:xfrm>
          <a:prstGeom prst="roundRect">
            <a:avLst>
              <a:gd name="adj" fmla="val 1643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86487" y="3838575"/>
            <a:ext cx="3657600" cy="695325"/>
          </a:xfrm>
          <a:prstGeom prst="roundRect">
            <a:avLst>
              <a:gd name="adj" fmla="val 1643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58320" y="2324100"/>
            <a:ext cx="2875359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F8FAFC"/>
                </a:solidFill>
                <a:latin typeface="Plus Jakarta Sans"/>
              </a:rPr>
              <a:t>Conclusioni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000375"/>
            <a:ext cx="95250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u="none">
                <a:solidFill>
                  <a:srgbClr val="94A3B8"/>
                </a:solidFill>
                <a:latin typeface="Plus Jakarta Sans"/>
              </a:rPr>
              <a:t>ms_base è competitivo: IoU complessiva 86,2% e IoU sui difetti 88,5%. Il confronto con YOLO sull’IoU dei soli difetti non è conclusivo.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99096" y="4076700"/>
            <a:ext cx="36314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Plus Jakarta Sans"/>
              </a:rPr>
              <a:t>Pretraining: utile per ms_base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2193" y="4076700"/>
            <a:ext cx="37861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80" b="1" i="0" u="none">
                <a:solidFill>
                  <a:srgbClr val="38BDF8"/>
                </a:solidFill>
                <a:latin typeface="Plus Jakarta Sans"/>
              </a:rPr>
              <a:t>MS-Full: meno parametri, ma più falsi positivi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838</Words>
  <Application>Microsoft Office PowerPoint</Application>
  <PresentationFormat>Widescreen</PresentationFormat>
  <Paragraphs>152</Paragraphs>
  <Slides>13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20" baseType="lpstr">
      <vt:lpstr>Arial</vt:lpstr>
      <vt:lpstr>Calibri</vt:lpstr>
      <vt:lpstr>Plus Jakarta Sans</vt:lpstr>
      <vt:lpstr>JetBrains Mono</vt:lpstr>
      <vt:lpstr>Inter</vt:lpstr>
      <vt:lpstr>Space Grotesk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Francesco Ciotola</cp:lastModifiedBy>
  <cp:revision>3</cp:revision>
  <dcterms:created xsi:type="dcterms:W3CDTF">2013-01-27T09:14:16Z</dcterms:created>
  <dcterms:modified xsi:type="dcterms:W3CDTF">2026-10-23T18:18:22Z</dcterms:modified>
  <cp:category/>
</cp:coreProperties>
</file>